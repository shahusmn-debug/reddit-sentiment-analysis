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6"/>
  </p:notesMasterIdLst>
  <p:sldIdLst>
    <p:sldId id="265" r:id="rId5"/>
  </p:sldIdLst>
  <p:sldSz cx="43891200" cy="32918400"/>
  <p:notesSz cx="7315200" cy="9601200"/>
  <p:embeddedFontLst>
    <p:embeddedFont>
      <p:font typeface="Calibri Light" panose="020F0302020204030204" pitchFamily="34" charset="0"/>
      <p:regular r:id="rId7"/>
      <p:italic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EC6C6"/>
    <a:srgbClr val="FF6600"/>
    <a:srgbClr val="FF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>
      <p:cViewPr varScale="1">
        <p:scale>
          <a:sx n="23" d="100"/>
          <a:sy n="23" d="100"/>
        </p:scale>
        <p:origin x="2196" y="66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14088E-30A4-4D2B-B451-0785F2164CB5}" type="doc">
      <dgm:prSet loTypeId="urn:microsoft.com/office/officeart/2005/8/layout/hProcess9" loCatId="process" qsTypeId="urn:microsoft.com/office/officeart/2005/8/quickstyle/simple1" qsCatId="simple" csTypeId="urn:microsoft.com/office/officeart/2005/8/colors/accent2_3" csCatId="accent2" phldr="1"/>
      <dgm:spPr/>
    </dgm:pt>
    <dgm:pt modelId="{FFFE0621-83F2-44F7-87B9-435D3B91E223}">
      <dgm:prSet phldrT="[Text]"/>
      <dgm:spPr/>
      <dgm:t>
        <a:bodyPr/>
        <a:lstStyle/>
        <a:p>
          <a:r>
            <a:rPr lang="en-US" dirty="0" smtClean="0"/>
            <a:t>📂 Define Subreddits (17 blue/white-collar)</a:t>
          </a:r>
          <a:endParaRPr lang="en-US" dirty="0"/>
        </a:p>
      </dgm:t>
    </dgm:pt>
    <dgm:pt modelId="{81FB596D-CFED-4B85-8E4C-7EF786E76DDE}" type="parTrans" cxnId="{73C7994B-B9ED-4B0E-A65E-33B141DA890C}">
      <dgm:prSet/>
      <dgm:spPr/>
      <dgm:t>
        <a:bodyPr/>
        <a:lstStyle/>
        <a:p>
          <a:endParaRPr lang="en-US"/>
        </a:p>
      </dgm:t>
    </dgm:pt>
    <dgm:pt modelId="{7773ACCA-C83C-4352-A17A-F29577CDB7B1}" type="sibTrans" cxnId="{73C7994B-B9ED-4B0E-A65E-33B141DA890C}">
      <dgm:prSet/>
      <dgm:spPr/>
      <dgm:t>
        <a:bodyPr/>
        <a:lstStyle/>
        <a:p>
          <a:endParaRPr lang="en-US"/>
        </a:p>
      </dgm:t>
    </dgm:pt>
    <dgm:pt modelId="{90ABF31F-3701-4D78-B133-6C5F80D5AA37}">
      <dgm:prSet phldrT="[Text]"/>
      <dgm:spPr/>
      <dgm:t>
        <a:bodyPr/>
        <a:lstStyle/>
        <a:p>
          <a:r>
            <a:rPr lang="en-US" dirty="0" smtClean="0"/>
            <a:t>🔍 Collect Data via PRAW API (839 posts/comments, 2021)</a:t>
          </a:r>
          <a:endParaRPr lang="en-US" dirty="0"/>
        </a:p>
      </dgm:t>
    </dgm:pt>
    <dgm:pt modelId="{765CC5EF-E08E-4A31-A911-4C536398F08D}" type="parTrans" cxnId="{7FEB178F-1B60-47BA-9E55-FE10E78020D6}">
      <dgm:prSet/>
      <dgm:spPr/>
      <dgm:t>
        <a:bodyPr/>
        <a:lstStyle/>
        <a:p>
          <a:endParaRPr lang="en-US"/>
        </a:p>
      </dgm:t>
    </dgm:pt>
    <dgm:pt modelId="{789473AF-0353-45C5-9B21-C0DCEFBE568B}" type="sibTrans" cxnId="{7FEB178F-1B60-47BA-9E55-FE10E78020D6}">
      <dgm:prSet/>
      <dgm:spPr/>
      <dgm:t>
        <a:bodyPr/>
        <a:lstStyle/>
        <a:p>
          <a:endParaRPr lang="en-US"/>
        </a:p>
      </dgm:t>
    </dgm:pt>
    <dgm:pt modelId="{E4347803-C80A-4B41-A97A-F6FA3FD585CE}">
      <dgm:prSet phldrT="[Text]"/>
      <dgm:spPr/>
      <dgm:t>
        <a:bodyPr/>
        <a:lstStyle/>
        <a:p>
          <a:r>
            <a:rPr lang="en-US" dirty="0" smtClean="0"/>
            <a:t>🤖 Sentiment Analysis (Gemini LLM) (Classify as +1, 0, -1)</a:t>
          </a:r>
          <a:endParaRPr lang="en-US" dirty="0"/>
        </a:p>
      </dgm:t>
    </dgm:pt>
    <dgm:pt modelId="{5122C546-4C89-4EE5-8ACE-03A8C9AE7856}" type="parTrans" cxnId="{CE0E0309-0E6C-4760-A1C8-ABA642F69932}">
      <dgm:prSet/>
      <dgm:spPr/>
      <dgm:t>
        <a:bodyPr/>
        <a:lstStyle/>
        <a:p>
          <a:endParaRPr lang="en-US"/>
        </a:p>
      </dgm:t>
    </dgm:pt>
    <dgm:pt modelId="{CF4F6A86-C703-4FF5-B756-EA1D64C1C4B3}" type="sibTrans" cxnId="{CE0E0309-0E6C-4760-A1C8-ABA642F69932}">
      <dgm:prSet/>
      <dgm:spPr/>
      <dgm:t>
        <a:bodyPr/>
        <a:lstStyle/>
        <a:p>
          <a:endParaRPr lang="en-US"/>
        </a:p>
      </dgm:t>
    </dgm:pt>
    <dgm:pt modelId="{F3502BE0-FD8B-4FE5-83D4-CE54177D9254}">
      <dgm:prSet phldrT="[Text]"/>
      <dgm:spPr>
        <a:solidFill>
          <a:schemeClr val="accent2">
            <a:shade val="80000"/>
            <a:hueOff val="-481415"/>
            <a:satOff val="10166"/>
            <a:lumOff val="27081"/>
          </a:schemeClr>
        </a:solidFill>
      </dgm:spPr>
      <dgm:t>
        <a:bodyPr/>
        <a:lstStyle/>
        <a:p>
          <a:r>
            <a:rPr lang="en-US" dirty="0" smtClean="0"/>
            <a:t>📊 Statistical Analysis</a:t>
          </a:r>
          <a:endParaRPr lang="en-US" dirty="0"/>
        </a:p>
      </dgm:t>
    </dgm:pt>
    <dgm:pt modelId="{8E574BD3-3D86-490C-8AE4-C420EB70F0BB}" type="parTrans" cxnId="{8D89E2D4-48E7-49AA-9BD4-D7371944A8B7}">
      <dgm:prSet/>
      <dgm:spPr/>
      <dgm:t>
        <a:bodyPr/>
        <a:lstStyle/>
        <a:p>
          <a:endParaRPr lang="en-US"/>
        </a:p>
      </dgm:t>
    </dgm:pt>
    <dgm:pt modelId="{26773696-9A2E-4D8F-8653-3444B9A1E0D5}" type="sibTrans" cxnId="{8D89E2D4-48E7-49AA-9BD4-D7371944A8B7}">
      <dgm:prSet/>
      <dgm:spPr/>
      <dgm:t>
        <a:bodyPr/>
        <a:lstStyle/>
        <a:p>
          <a:endParaRPr lang="en-US"/>
        </a:p>
      </dgm:t>
    </dgm:pt>
    <dgm:pt modelId="{D2F11FD4-8F82-435C-944E-6C4D742EA4B7}" type="pres">
      <dgm:prSet presAssocID="{BA14088E-30A4-4D2B-B451-0785F2164CB5}" presName="CompostProcess" presStyleCnt="0">
        <dgm:presLayoutVars>
          <dgm:dir/>
          <dgm:resizeHandles val="exact"/>
        </dgm:presLayoutVars>
      </dgm:prSet>
      <dgm:spPr/>
    </dgm:pt>
    <dgm:pt modelId="{1F7B9A67-D3A9-4D66-816E-6DEFFB8FAF8E}" type="pres">
      <dgm:prSet presAssocID="{BA14088E-30A4-4D2B-B451-0785F2164CB5}" presName="arrow" presStyleLbl="bgShp" presStyleIdx="0" presStyleCnt="1" custLinFactNeighborX="2411" custLinFactNeighborY="-13100"/>
      <dgm:spPr>
        <a:solidFill>
          <a:srgbClr val="C00000"/>
        </a:solidFill>
      </dgm:spPr>
    </dgm:pt>
    <dgm:pt modelId="{34D961C2-5555-45A5-B97C-723253EB53EB}" type="pres">
      <dgm:prSet presAssocID="{BA14088E-30A4-4D2B-B451-0785F2164CB5}" presName="linearProcess" presStyleCnt="0"/>
      <dgm:spPr/>
    </dgm:pt>
    <dgm:pt modelId="{112C089D-8CA2-466B-A837-B487FEC39675}" type="pres">
      <dgm:prSet presAssocID="{FFFE0621-83F2-44F7-87B9-435D3B91E223}" presName="text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025D786-24E9-4D4D-8257-035A5666F0EF}" type="pres">
      <dgm:prSet presAssocID="{7773ACCA-C83C-4352-A17A-F29577CDB7B1}" presName="sibTrans" presStyleCnt="0"/>
      <dgm:spPr/>
    </dgm:pt>
    <dgm:pt modelId="{530A06E4-49EA-448F-BFF9-BDC534528FE3}" type="pres">
      <dgm:prSet presAssocID="{90ABF31F-3701-4D78-B133-6C5F80D5AA37}" presName="text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BDA7657-7AD2-407F-86DA-4F8123F5C42A}" type="pres">
      <dgm:prSet presAssocID="{789473AF-0353-45C5-9B21-C0DCEFBE568B}" presName="sibTrans" presStyleCnt="0"/>
      <dgm:spPr/>
    </dgm:pt>
    <dgm:pt modelId="{8F302704-D351-4D4C-A23A-1BBBC1B7E13D}" type="pres">
      <dgm:prSet presAssocID="{E4347803-C80A-4B41-A97A-F6FA3FD585CE}" presName="text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731EB6-EE01-4E3C-8FD5-7ABC1021C137}" type="pres">
      <dgm:prSet presAssocID="{CF4F6A86-C703-4FF5-B756-EA1D64C1C4B3}" presName="sibTrans" presStyleCnt="0"/>
      <dgm:spPr/>
    </dgm:pt>
    <dgm:pt modelId="{E61391CE-C568-4669-8D9E-7C9C8F5EFAE3}" type="pres">
      <dgm:prSet presAssocID="{F3502BE0-FD8B-4FE5-83D4-CE54177D9254}" presName="text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3C7994B-B9ED-4B0E-A65E-33B141DA890C}" srcId="{BA14088E-30A4-4D2B-B451-0785F2164CB5}" destId="{FFFE0621-83F2-44F7-87B9-435D3B91E223}" srcOrd="0" destOrd="0" parTransId="{81FB596D-CFED-4B85-8E4C-7EF786E76DDE}" sibTransId="{7773ACCA-C83C-4352-A17A-F29577CDB7B1}"/>
    <dgm:cxn modelId="{7FEB178F-1B60-47BA-9E55-FE10E78020D6}" srcId="{BA14088E-30A4-4D2B-B451-0785F2164CB5}" destId="{90ABF31F-3701-4D78-B133-6C5F80D5AA37}" srcOrd="1" destOrd="0" parTransId="{765CC5EF-E08E-4A31-A911-4C536398F08D}" sibTransId="{789473AF-0353-45C5-9B21-C0DCEFBE568B}"/>
    <dgm:cxn modelId="{56EAF893-CA02-45B4-94A9-01491949FC68}" type="presOf" srcId="{BA14088E-30A4-4D2B-B451-0785F2164CB5}" destId="{D2F11FD4-8F82-435C-944E-6C4D742EA4B7}" srcOrd="0" destOrd="0" presId="urn:microsoft.com/office/officeart/2005/8/layout/hProcess9"/>
    <dgm:cxn modelId="{3F26CA75-EC43-4F4D-B3B8-B752DBD3EA8C}" type="presOf" srcId="{F3502BE0-FD8B-4FE5-83D4-CE54177D9254}" destId="{E61391CE-C568-4669-8D9E-7C9C8F5EFAE3}" srcOrd="0" destOrd="0" presId="urn:microsoft.com/office/officeart/2005/8/layout/hProcess9"/>
    <dgm:cxn modelId="{8A383C9F-B0C7-4FF4-97C2-8B118A517258}" type="presOf" srcId="{E4347803-C80A-4B41-A97A-F6FA3FD585CE}" destId="{8F302704-D351-4D4C-A23A-1BBBC1B7E13D}" srcOrd="0" destOrd="0" presId="urn:microsoft.com/office/officeart/2005/8/layout/hProcess9"/>
    <dgm:cxn modelId="{8D89E2D4-48E7-49AA-9BD4-D7371944A8B7}" srcId="{BA14088E-30A4-4D2B-B451-0785F2164CB5}" destId="{F3502BE0-FD8B-4FE5-83D4-CE54177D9254}" srcOrd="3" destOrd="0" parTransId="{8E574BD3-3D86-490C-8AE4-C420EB70F0BB}" sibTransId="{26773696-9A2E-4D8F-8653-3444B9A1E0D5}"/>
    <dgm:cxn modelId="{1760D2B8-86C0-4841-B0E6-98A5CE31F057}" type="presOf" srcId="{FFFE0621-83F2-44F7-87B9-435D3B91E223}" destId="{112C089D-8CA2-466B-A837-B487FEC39675}" srcOrd="0" destOrd="0" presId="urn:microsoft.com/office/officeart/2005/8/layout/hProcess9"/>
    <dgm:cxn modelId="{64D91A7C-89E1-40DF-AB46-329139EDD32E}" type="presOf" srcId="{90ABF31F-3701-4D78-B133-6C5F80D5AA37}" destId="{530A06E4-49EA-448F-BFF9-BDC534528FE3}" srcOrd="0" destOrd="0" presId="urn:microsoft.com/office/officeart/2005/8/layout/hProcess9"/>
    <dgm:cxn modelId="{CE0E0309-0E6C-4760-A1C8-ABA642F69932}" srcId="{BA14088E-30A4-4D2B-B451-0785F2164CB5}" destId="{E4347803-C80A-4B41-A97A-F6FA3FD585CE}" srcOrd="2" destOrd="0" parTransId="{5122C546-4C89-4EE5-8ACE-03A8C9AE7856}" sibTransId="{CF4F6A86-C703-4FF5-B756-EA1D64C1C4B3}"/>
    <dgm:cxn modelId="{681A64B9-4B67-438B-A20C-23840A5BA9CE}" type="presParOf" srcId="{D2F11FD4-8F82-435C-944E-6C4D742EA4B7}" destId="{1F7B9A67-D3A9-4D66-816E-6DEFFB8FAF8E}" srcOrd="0" destOrd="0" presId="urn:microsoft.com/office/officeart/2005/8/layout/hProcess9"/>
    <dgm:cxn modelId="{0AA912DF-E994-47B3-8307-4F1CD4329EA0}" type="presParOf" srcId="{D2F11FD4-8F82-435C-944E-6C4D742EA4B7}" destId="{34D961C2-5555-45A5-B97C-723253EB53EB}" srcOrd="1" destOrd="0" presId="urn:microsoft.com/office/officeart/2005/8/layout/hProcess9"/>
    <dgm:cxn modelId="{9D9E59B4-5351-4D7A-94DA-D1B22C2D2461}" type="presParOf" srcId="{34D961C2-5555-45A5-B97C-723253EB53EB}" destId="{112C089D-8CA2-466B-A837-B487FEC39675}" srcOrd="0" destOrd="0" presId="urn:microsoft.com/office/officeart/2005/8/layout/hProcess9"/>
    <dgm:cxn modelId="{9E0E9A3D-06D5-4588-AD15-0422EBE9029F}" type="presParOf" srcId="{34D961C2-5555-45A5-B97C-723253EB53EB}" destId="{E025D786-24E9-4D4D-8257-035A5666F0EF}" srcOrd="1" destOrd="0" presId="urn:microsoft.com/office/officeart/2005/8/layout/hProcess9"/>
    <dgm:cxn modelId="{21189E43-D9DF-4534-B28E-C6DCB7CB213A}" type="presParOf" srcId="{34D961C2-5555-45A5-B97C-723253EB53EB}" destId="{530A06E4-49EA-448F-BFF9-BDC534528FE3}" srcOrd="2" destOrd="0" presId="urn:microsoft.com/office/officeart/2005/8/layout/hProcess9"/>
    <dgm:cxn modelId="{285F3829-717F-457C-AD6F-3524A8BF989A}" type="presParOf" srcId="{34D961C2-5555-45A5-B97C-723253EB53EB}" destId="{0BDA7657-7AD2-407F-86DA-4F8123F5C42A}" srcOrd="3" destOrd="0" presId="urn:microsoft.com/office/officeart/2005/8/layout/hProcess9"/>
    <dgm:cxn modelId="{60A01C59-C922-4336-82A2-ACFAD55FEA48}" type="presParOf" srcId="{34D961C2-5555-45A5-B97C-723253EB53EB}" destId="{8F302704-D351-4D4C-A23A-1BBBC1B7E13D}" srcOrd="4" destOrd="0" presId="urn:microsoft.com/office/officeart/2005/8/layout/hProcess9"/>
    <dgm:cxn modelId="{DD4C1C17-8923-47B9-8E67-2DDEF37F5FA5}" type="presParOf" srcId="{34D961C2-5555-45A5-B97C-723253EB53EB}" destId="{80731EB6-EE01-4E3C-8FD5-7ABC1021C137}" srcOrd="5" destOrd="0" presId="urn:microsoft.com/office/officeart/2005/8/layout/hProcess9"/>
    <dgm:cxn modelId="{E5075F62-0298-4B5C-8389-9F700981C184}" type="presParOf" srcId="{34D961C2-5555-45A5-B97C-723253EB53EB}" destId="{E61391CE-C568-4669-8D9E-7C9C8F5EFAE3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B9A67-D3A9-4D66-816E-6DEFFB8FAF8E}">
      <dsp:nvSpPr>
        <dsp:cNvPr id="0" name=""/>
        <dsp:cNvSpPr/>
      </dsp:nvSpPr>
      <dsp:spPr>
        <a:xfrm>
          <a:off x="1287982" y="0"/>
          <a:ext cx="11464494" cy="7354204"/>
        </a:xfrm>
        <a:prstGeom prst="rightArrow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C089D-8CA2-466B-A837-B487FEC39675}">
      <dsp:nvSpPr>
        <dsp:cNvPr id="0" name=""/>
        <dsp:cNvSpPr/>
      </dsp:nvSpPr>
      <dsp:spPr>
        <a:xfrm>
          <a:off x="2289" y="2206261"/>
          <a:ext cx="3222832" cy="2941681"/>
        </a:xfrm>
        <a:prstGeom prst="round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📂 Define Subreddits (17 blue/white-collar)</a:t>
          </a:r>
          <a:endParaRPr lang="en-US" sz="3000" kern="1200" dirty="0"/>
        </a:p>
      </dsp:txBody>
      <dsp:txXfrm>
        <a:off x="145890" y="2349862"/>
        <a:ext cx="2935630" cy="2654479"/>
      </dsp:txXfrm>
    </dsp:sp>
    <dsp:sp modelId="{530A06E4-49EA-448F-BFF9-BDC534528FE3}">
      <dsp:nvSpPr>
        <dsp:cNvPr id="0" name=""/>
        <dsp:cNvSpPr/>
      </dsp:nvSpPr>
      <dsp:spPr>
        <a:xfrm>
          <a:off x="3422365" y="2206261"/>
          <a:ext cx="3222832" cy="2941681"/>
        </a:xfrm>
        <a:prstGeom prst="roundRect">
          <a:avLst/>
        </a:prstGeom>
        <a:solidFill>
          <a:schemeClr val="accent2">
            <a:shade val="80000"/>
            <a:hueOff val="-160472"/>
            <a:satOff val="3389"/>
            <a:lumOff val="90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🔍 Collect Data via PRAW API (839 posts/comments, 2021)</a:t>
          </a:r>
          <a:endParaRPr lang="en-US" sz="3000" kern="1200" dirty="0"/>
        </a:p>
      </dsp:txBody>
      <dsp:txXfrm>
        <a:off x="3565966" y="2349862"/>
        <a:ext cx="2935630" cy="2654479"/>
      </dsp:txXfrm>
    </dsp:sp>
    <dsp:sp modelId="{8F302704-D351-4D4C-A23A-1BBBC1B7E13D}">
      <dsp:nvSpPr>
        <dsp:cNvPr id="0" name=""/>
        <dsp:cNvSpPr/>
      </dsp:nvSpPr>
      <dsp:spPr>
        <a:xfrm>
          <a:off x="6842442" y="2206261"/>
          <a:ext cx="3222832" cy="2941681"/>
        </a:xfrm>
        <a:prstGeom prst="roundRect">
          <a:avLst/>
        </a:prstGeom>
        <a:solidFill>
          <a:schemeClr val="accent2">
            <a:shade val="80000"/>
            <a:hueOff val="-320943"/>
            <a:satOff val="6777"/>
            <a:lumOff val="180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🤖 Sentiment Analysis (Gemini LLM) (Classify as +1, 0, -1)</a:t>
          </a:r>
          <a:endParaRPr lang="en-US" sz="3000" kern="1200" dirty="0"/>
        </a:p>
      </dsp:txBody>
      <dsp:txXfrm>
        <a:off x="6986043" y="2349862"/>
        <a:ext cx="2935630" cy="2654479"/>
      </dsp:txXfrm>
    </dsp:sp>
    <dsp:sp modelId="{E61391CE-C568-4669-8D9E-7C9C8F5EFAE3}">
      <dsp:nvSpPr>
        <dsp:cNvPr id="0" name=""/>
        <dsp:cNvSpPr/>
      </dsp:nvSpPr>
      <dsp:spPr>
        <a:xfrm>
          <a:off x="10262518" y="2206261"/>
          <a:ext cx="3222832" cy="2941681"/>
        </a:xfrm>
        <a:prstGeom prst="roundRect">
          <a:avLst/>
        </a:prstGeom>
        <a:solidFill>
          <a:schemeClr val="accent2">
            <a:shade val="80000"/>
            <a:hueOff val="-481415"/>
            <a:satOff val="10166"/>
            <a:lumOff val="2708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📊 Statistical Analysis</a:t>
          </a:r>
          <a:endParaRPr lang="en-US" sz="3000" kern="1200" dirty="0"/>
        </a:p>
      </dsp:txBody>
      <dsp:txXfrm>
        <a:off x="10406119" y="2349862"/>
        <a:ext cx="2935630" cy="26544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2858" cy="47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25" tIns="8700" rIns="17425" bIns="8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2342" y="0"/>
            <a:ext cx="3172858" cy="47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25" tIns="8700" rIns="17425" bIns="8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3" y="720725"/>
            <a:ext cx="4803775" cy="3603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69485" y="4555524"/>
            <a:ext cx="5376231" cy="432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25" tIns="8700" rIns="17425" bIns="8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5465"/>
            <a:ext cx="3172858" cy="47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25" tIns="8700" rIns="17425" bIns="8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" b="1" i="0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2342" y="9125465"/>
            <a:ext cx="3172858" cy="47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25" tIns="8700" rIns="17425" bIns="8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"/>
              <a:buFont typeface="Arial"/>
              <a:buNone/>
            </a:pPr>
            <a:fld id="{00000000-1234-1234-1234-123412341234}" type="slidenum">
              <a:rPr lang="en-US" sz="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4142342" y="9125465"/>
            <a:ext cx="3172858" cy="475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25" tIns="8700" rIns="17425" bIns="8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"/>
              <a:buNone/>
            </a:pPr>
            <a:fld id="{00000000-1234-1234-1234-123412341234}" type="slidenum">
              <a:rPr lang="en-US" sz="200" b="1">
                <a:solidFill>
                  <a:schemeClr val="dk1"/>
                </a:solidFill>
              </a:rPr>
              <a:t>1</a:t>
            </a:fld>
            <a:endParaRPr sz="200" b="1" dirty="0">
              <a:solidFill>
                <a:schemeClr val="dk1"/>
              </a:solidFill>
            </a:endParaR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803775" cy="3603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969485" y="4555524"/>
            <a:ext cx="5376231" cy="432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425" tIns="8700" rIns="17425" bIns="8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6404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8299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5098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89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4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39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39" y="12024360"/>
            <a:ext cx="18568033" cy="176860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51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80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70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33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9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9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1529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328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68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45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diagramLayout" Target="../diagrams/layout1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11" Type="http://schemas.openxmlformats.org/officeDocument/2006/relationships/image" Target="../media/image4.png"/><Relationship Id="rId5" Type="http://schemas.openxmlformats.org/officeDocument/2006/relationships/image" Target="../media/image3.jpeg"/><Relationship Id="rId15" Type="http://schemas.openxmlformats.org/officeDocument/2006/relationships/image" Target="../media/image8.png"/><Relationship Id="rId10" Type="http://schemas.microsoft.com/office/2007/relationships/diagramDrawing" Target="../diagrams/drawing1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Relationship Id="rId1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2"/>
          <p:cNvSpPr>
            <a:spLocks noChangeArrowheads="1"/>
          </p:cNvSpPr>
          <p:nvPr/>
        </p:nvSpPr>
        <p:spPr bwMode="auto">
          <a:xfrm>
            <a:off x="0" y="2260653"/>
            <a:ext cx="43891200" cy="30657746"/>
          </a:xfrm>
          <a:prstGeom prst="rect">
            <a:avLst/>
          </a:prstGeom>
          <a:gradFill>
            <a:gsLst>
              <a:gs pos="0">
                <a:srgbClr val="FEC6C6"/>
              </a:gs>
              <a:gs pos="100000">
                <a:srgbClr val="FF0000">
                  <a:alpha val="29000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742950" lvl="2" indent="-285750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endParaRPr lang="en-US" sz="3600" dirty="0">
              <a:cs typeface="Arial" panose="020B0604020202020204" pitchFamily="34" charset="0"/>
            </a:endParaRPr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-1" y="2260653"/>
            <a:ext cx="43891201" cy="3065774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742950" lvl="2" indent="-28575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endParaRPr lang="en-US" sz="3600" dirty="0">
              <a:cs typeface="Arial" panose="020B0604020202020204" pitchFamily="34" charset="0"/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0" y="1676082"/>
            <a:ext cx="43891200" cy="2225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925" tIns="39950" rIns="79925" bIns="39950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Who Was More Vaccine-Skeptical Online? A </a:t>
            </a:r>
            <a:r>
              <a:rPr lang="en-US" sz="66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 Comparison </a:t>
            </a:r>
            <a:r>
              <a:rPr lang="en-US" sz="6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Occupational Groups on Reddit</a:t>
            </a:r>
            <a:endParaRPr lang="en-US" sz="66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2"/>
          <p:cNvSpPr/>
          <p:nvPr/>
        </p:nvSpPr>
        <p:spPr>
          <a:xfrm>
            <a:off x="1685822" y="4521915"/>
            <a:ext cx="12755100" cy="10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925" tIns="39950" rIns="79925" bIns="3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endParaRPr sz="4300" b="1" i="0" u="none" strike="noStrike" cap="none" baseline="-25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 baseline="-25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n-US" sz="3400" b="1" i="0" u="none" strike="noStrike" cap="none" baseline="-25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sz="3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/>
          <p:nvPr/>
        </p:nvSpPr>
        <p:spPr>
          <a:xfrm>
            <a:off x="27752952" y="5953100"/>
            <a:ext cx="15384000" cy="211098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51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0" y="3351013"/>
            <a:ext cx="43891200" cy="190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SzPts val="6000"/>
            </a:pPr>
            <a:r>
              <a:rPr lang="es-ES" sz="44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Usmaan Shah, DO,</a:t>
            </a:r>
            <a:r>
              <a:rPr lang="en-US" sz="4400" baseline="300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1,3</a:t>
            </a:r>
            <a:r>
              <a:rPr lang="en-US" sz="44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Judith M Graber, PhD, MS</a:t>
            </a:r>
            <a:r>
              <a:rPr lang="en-US" sz="4400" baseline="30000" dirty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2,3</a:t>
            </a:r>
            <a:r>
              <a:rPr lang="en-US" sz="4400" dirty="0">
                <a:solidFill>
                  <a:prstClr val="black"/>
                </a:solidFill>
                <a:latin typeface="Times New Roman"/>
                <a:cs typeface="Times New Roman"/>
                <a:sym typeface="Times New Roman"/>
              </a:rPr>
              <a:t>, Julie Caruth, MD, </a:t>
            </a:r>
            <a:r>
              <a:rPr lang="en-US" sz="4400" dirty="0" smtClean="0">
                <a:solidFill>
                  <a:prstClr val="black"/>
                </a:solidFill>
                <a:latin typeface="Times New Roman"/>
                <a:cs typeface="Times New Roman"/>
                <a:sym typeface="Times New Roman"/>
              </a:rPr>
              <a:t>MPH</a:t>
            </a:r>
            <a:r>
              <a:rPr lang="en-US" sz="4400" baseline="30000" dirty="0" smtClean="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1,3</a:t>
            </a:r>
            <a:endParaRPr lang="en-US" sz="4400" baseline="30000" dirty="0">
              <a:solidFill>
                <a:prstClr val="blac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6000"/>
            </a:pPr>
            <a:r>
              <a:rPr lang="en-US" sz="28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Rutgers, The State University of New Jersey, School of Public Health, Environmental and  Occupational Health and Justice Piscataway, New Jersey, USA</a:t>
            </a:r>
          </a:p>
          <a:p>
            <a:pPr lvl="0" algn="ctr">
              <a:buSzPts val="6000"/>
            </a:pPr>
            <a:r>
              <a:rPr lang="en-US" sz="28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Rutgers, The State University of New Jersey, 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Department of Biostatistics and Epidemiology, </a:t>
            </a:r>
            <a:r>
              <a:rPr lang="en-US" sz="2800" baseline="30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</a:t>
            </a: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Rutgers, The State University of New Jersey, Environmental and Occupational Health Sciences Institute, Piscataway, New Jersey, </a:t>
            </a:r>
            <a:r>
              <a:rPr lang="en-US" sz="28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ts val="6000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Residency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Grant (Region II) Educational Resource Center Awarded by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CDC and NIOSH - Grant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5 T42 OH008422-10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ts val="6000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ts val="6000"/>
            </a:pPr>
            <a:endParaRPr lang="en-US" sz="48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8" name="Google Shape;98;p12"/>
          <p:cNvSpPr/>
          <p:nvPr/>
        </p:nvSpPr>
        <p:spPr>
          <a:xfrm>
            <a:off x="463515" y="14709401"/>
            <a:ext cx="18023068" cy="150156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400" b="1" i="0" u="none" strike="noStrike" cap="none" dirty="0">
              <a:solidFill>
                <a:schemeClr val="dk1"/>
              </a:solidFill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C1E174-AC40-4B49-8A8A-47080CE92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15" y="462063"/>
            <a:ext cx="9179993" cy="1416810"/>
          </a:xfrm>
          <a:prstGeom prst="rect">
            <a:avLst/>
          </a:prstGeom>
        </p:spPr>
      </p:pic>
      <p:pic>
        <p:nvPicPr>
          <p:cNvPr id="28" name="Image 2" descr="No description has been provided for this image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91902" y="6469015"/>
            <a:ext cx="12148815" cy="9311952"/>
          </a:xfrm>
          <a:prstGeom prst="rect">
            <a:avLst/>
          </a:prstGeom>
        </p:spPr>
      </p:pic>
      <p:pic>
        <p:nvPicPr>
          <p:cNvPr id="29" name="Image 3" descr="No description has been provided for this image"/>
          <p:cNvPicPr/>
          <p:nvPr/>
        </p:nvPicPr>
        <p:blipFill rotWithShape="1">
          <a:blip r:embed="rId5" cstate="print"/>
          <a:srcRect t="5877"/>
          <a:stretch/>
        </p:blipFill>
        <p:spPr>
          <a:xfrm>
            <a:off x="30529564" y="6447986"/>
            <a:ext cx="12235195" cy="9332981"/>
          </a:xfrm>
          <a:prstGeom prst="rect">
            <a:avLst/>
          </a:prstGeom>
        </p:spPr>
      </p:pic>
      <p:sp>
        <p:nvSpPr>
          <p:cNvPr id="45" name="Rectangle 2"/>
          <p:cNvSpPr>
            <a:spLocks noChangeArrowheads="1"/>
          </p:cNvSpPr>
          <p:nvPr/>
        </p:nvSpPr>
        <p:spPr bwMode="auto">
          <a:xfrm>
            <a:off x="-1" y="8375548"/>
            <a:ext cx="15728041" cy="31593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74320" tIns="45720" rIns="27432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571500" lvl="1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cs typeface="Arial" panose="020B0604020202020204" pitchFamily="34" charset="0"/>
              </a:rPr>
              <a:t>Public acceptance was key to the COVID-19 vaccine campaign</a:t>
            </a: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cs typeface="Arial" panose="020B0604020202020204" pitchFamily="34" charset="0"/>
              </a:rPr>
              <a:t>Online platforms like Reddit became major arenas for shaping opinions</a:t>
            </a: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cs typeface="Arial" panose="020B0604020202020204" pitchFamily="34" charset="0"/>
              </a:rPr>
              <a:t>Y</a:t>
            </a:r>
            <a:r>
              <a:rPr lang="en-US" sz="3600" dirty="0" smtClean="0">
                <a:cs typeface="Arial" panose="020B0604020202020204" pitchFamily="34" charset="0"/>
              </a:rPr>
              <a:t>et little is known about how vaccine sentiment varied by occupation</a:t>
            </a:r>
            <a:endParaRPr lang="en-US" sz="3600" dirty="0">
              <a:cs typeface="Arial" panose="020B0604020202020204" pitchFamily="34" charset="0"/>
            </a:endParaRPr>
          </a:p>
          <a:p>
            <a:pPr marL="571500" lvl="1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Research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Question  </a:t>
            </a:r>
            <a:endPara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How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did COVID-19 vaccine sentiment differ by occupational groups on Reddit during 2021?</a:t>
            </a:r>
          </a:p>
          <a:p>
            <a:pPr marL="457200" lvl="2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3600" dirty="0" smtClean="0">
              <a:cs typeface="Arial" panose="020B0604020202020204" pitchFamily="34" charset="0"/>
            </a:endParaRPr>
          </a:p>
          <a:p>
            <a:pPr marL="0" lvl="1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3600" dirty="0">
              <a:cs typeface="Arial" panose="020B0604020202020204" pitchFamily="34" charset="0"/>
            </a:endParaRPr>
          </a:p>
        </p:txBody>
      </p:sp>
      <p:sp>
        <p:nvSpPr>
          <p:cNvPr id="47" name="Google Shape;108;p12"/>
          <p:cNvSpPr txBox="1"/>
          <p:nvPr/>
        </p:nvSpPr>
        <p:spPr>
          <a:xfrm>
            <a:off x="1" y="6556577"/>
            <a:ext cx="15728040" cy="14996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 dirty="0" smtClean="0">
                <a:solidFill>
                  <a:schemeClr val="lt1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Intro</a:t>
            </a:r>
            <a:endParaRPr lang="en-US" sz="6000" b="0" i="0" u="none" strike="noStrike" cap="none" dirty="0">
              <a:solidFill>
                <a:srgbClr val="000000"/>
              </a:solidFill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39" name="Rectangle 2"/>
          <p:cNvSpPr>
            <a:spLocks noChangeArrowheads="1"/>
          </p:cNvSpPr>
          <p:nvPr/>
        </p:nvSpPr>
        <p:spPr bwMode="auto">
          <a:xfrm>
            <a:off x="0" y="14376416"/>
            <a:ext cx="15720345" cy="65423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74320" tIns="45720" rIns="27432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571500" lvl="1" indent="-571500" defTabSz="1600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prstClr val="black"/>
                </a:solidFill>
                <a:cs typeface="Arial" panose="020B0604020202020204" pitchFamily="34" charset="0"/>
              </a:rPr>
              <a:t>Sampling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: </a:t>
            </a:r>
          </a:p>
          <a:p>
            <a:pPr marL="1028700" lvl="2" indent="-571500" defTabSz="1600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17 profession-specific </a:t>
            </a:r>
            <a:r>
              <a:rPr lang="en-US" sz="3600" dirty="0" err="1">
                <a:solidFill>
                  <a:prstClr val="black"/>
                </a:solidFill>
                <a:cs typeface="Arial" panose="020B0604020202020204" pitchFamily="34" charset="0"/>
              </a:rPr>
              <a:t>subreddits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 were </a:t>
            </a: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defined as blue collar or white collar</a:t>
            </a:r>
          </a:p>
          <a:p>
            <a:pPr marL="1028700" lvl="2" indent="-571500" defTabSz="1600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Inclusion criteria included occupational focus and minimum subscriber count</a:t>
            </a:r>
          </a:p>
          <a:p>
            <a:pPr marL="571500" lvl="1" indent="-571500" defTabSz="1600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prstClr val="black"/>
                </a:solidFill>
                <a:cs typeface="Arial" panose="020B0604020202020204" pitchFamily="34" charset="0"/>
              </a:rPr>
              <a:t>Sample Selection: 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items containing keywords: “vaccine,” “</a:t>
            </a:r>
            <a:r>
              <a:rPr lang="en-US" sz="3600" dirty="0" err="1">
                <a:solidFill>
                  <a:prstClr val="black"/>
                </a:solidFill>
                <a:cs typeface="Arial" panose="020B0604020202020204" pitchFamily="34" charset="0"/>
              </a:rPr>
              <a:t>pfizer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,” “</a:t>
            </a:r>
            <a:r>
              <a:rPr lang="en-US" sz="3600" dirty="0" err="1">
                <a:solidFill>
                  <a:prstClr val="black"/>
                </a:solidFill>
                <a:cs typeface="Arial" panose="020B0604020202020204" pitchFamily="34" charset="0"/>
              </a:rPr>
              <a:t>moderna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.”, “vaccine”, “vaccinated”, “vaccination</a:t>
            </a: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”</a:t>
            </a:r>
            <a:endParaRPr lang="en-US" sz="3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457200" lvl="0" indent="-457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</a:rPr>
              <a:t> </a:t>
            </a:r>
            <a:r>
              <a:rPr lang="en-US" sz="3600" b="1" dirty="0">
                <a:solidFill>
                  <a:prstClr val="black"/>
                </a:solidFill>
                <a:cs typeface="Arial" panose="020B0604020202020204" pitchFamily="34" charset="0"/>
              </a:rPr>
              <a:t>Period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: Jan 1–Dec 31, </a:t>
            </a: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2021</a:t>
            </a:r>
            <a:endParaRPr lang="en-US" sz="3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571500" lvl="1" indent="-571500" defTabSz="1600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Collection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: PRAW (Python </a:t>
            </a:r>
            <a:r>
              <a:rPr lang="en-US" sz="3600" dirty="0" err="1">
                <a:solidFill>
                  <a:prstClr val="black"/>
                </a:solidFill>
                <a:cs typeface="Arial" panose="020B0604020202020204" pitchFamily="34" charset="0"/>
              </a:rPr>
              <a:t>Reddit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 API Wrapper</a:t>
            </a: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).</a:t>
            </a:r>
          </a:p>
          <a:p>
            <a:pPr marL="571500" lvl="1" indent="-571500" defTabSz="1600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Included items </a:t>
            </a:r>
            <a:r>
              <a:rPr lang="en-US" sz="3600" b="1" dirty="0">
                <a:solidFill>
                  <a:prstClr val="black"/>
                </a:solidFill>
                <a:cs typeface="Arial" panose="020B0604020202020204" pitchFamily="34" charset="0"/>
              </a:rPr>
              <a:t>:  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839 </a:t>
            </a: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comments and posts</a:t>
            </a:r>
            <a:endParaRPr lang="en-US" sz="3600" b="1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571500" lvl="1" indent="-571500" defTabSz="1600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b="1" dirty="0" smtClean="0">
                <a:solidFill>
                  <a:prstClr val="black"/>
                </a:solidFill>
                <a:cs typeface="Arial" panose="020B0604020202020204" pitchFamily="34" charset="0"/>
              </a:rPr>
              <a:t>Sentiment</a:t>
            </a: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 Gemini Flash 2.5 LLM used to analyze the item’s sentiment towards COVID </a:t>
            </a: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vaccines</a:t>
            </a:r>
          </a:p>
          <a:p>
            <a:pPr marL="571500" lvl="1" indent="-571500" defTabSz="1600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Assigns </a:t>
            </a:r>
            <a:r>
              <a:rPr lang="en-US" sz="3600" dirty="0" smtClean="0">
                <a:solidFill>
                  <a:prstClr val="black"/>
                </a:solidFill>
                <a:cs typeface="Arial" panose="020B0604020202020204" pitchFamily="34" charset="0"/>
              </a:rPr>
              <a:t>sentiment score of:</a:t>
            </a:r>
            <a:endParaRPr lang="en-US" sz="3600" dirty="0">
              <a:solidFill>
                <a:prstClr val="black"/>
              </a:solidFill>
              <a:cs typeface="Arial" panose="020B0604020202020204" pitchFamily="34" charset="0"/>
            </a:endParaRPr>
          </a:p>
          <a:p>
            <a:pPr marL="1485900" lvl="3" indent="-571500" defTabSz="1600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Positive;  score = +1</a:t>
            </a:r>
          </a:p>
          <a:p>
            <a:pPr marL="1485900" lvl="3" indent="-571500" defTabSz="1600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Negative;  score = −1</a:t>
            </a:r>
          </a:p>
          <a:p>
            <a:pPr marL="1485900" lvl="3" indent="-571500" defTabSz="16002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cs typeface="Arial" panose="020B0604020202020204" pitchFamily="34" charset="0"/>
              </a:rPr>
              <a:t>Neutral;  score = 0</a:t>
            </a:r>
          </a:p>
        </p:txBody>
      </p:sp>
      <p:sp>
        <p:nvSpPr>
          <p:cNvPr id="40" name="Google Shape;108;p12"/>
          <p:cNvSpPr txBox="1"/>
          <p:nvPr/>
        </p:nvSpPr>
        <p:spPr>
          <a:xfrm>
            <a:off x="0" y="12544695"/>
            <a:ext cx="15720346" cy="14996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6000"/>
            </a:pPr>
            <a:r>
              <a:rPr lang="en-US" sz="6000" b="1" dirty="0" smtClean="0">
                <a:solidFill>
                  <a:schemeClr val="lt1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Methods</a:t>
            </a:r>
            <a:endParaRPr lang="en-US" sz="6000" dirty="0">
              <a:solidFill>
                <a:srgbClr val="000000"/>
              </a:solidFill>
              <a:ea typeface="Arial"/>
              <a:cs typeface="Arial" panose="020B0604020202020204" pitchFamily="34" charset="0"/>
              <a:sym typeface="Arial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574849504"/>
              </p:ext>
            </p:extLst>
          </p:nvPr>
        </p:nvGraphicFramePr>
        <p:xfrm>
          <a:off x="505824" y="23645582"/>
          <a:ext cx="13487641" cy="7354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75" name="Google Shape;108;p12"/>
          <p:cNvSpPr txBox="1"/>
          <p:nvPr/>
        </p:nvSpPr>
        <p:spPr>
          <a:xfrm>
            <a:off x="15951190" y="16766178"/>
            <a:ext cx="27618386" cy="149961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dirty="0" smtClean="0">
                <a:solidFill>
                  <a:schemeClr val="lt1"/>
                </a:solidFill>
                <a:ea typeface="Arial"/>
                <a:cs typeface="Arial" panose="020B0604020202020204" pitchFamily="34" charset="0"/>
                <a:sym typeface="Times New Roman"/>
              </a:rPr>
              <a:t>Representative examples</a:t>
            </a:r>
            <a:endParaRPr lang="en-US" sz="6000" b="0" i="0" u="none" strike="noStrike" cap="none" dirty="0">
              <a:solidFill>
                <a:srgbClr val="000000"/>
              </a:solidFill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76" name="Rectangle 2"/>
          <p:cNvSpPr>
            <a:spLocks noChangeArrowheads="1"/>
          </p:cNvSpPr>
          <p:nvPr/>
        </p:nvSpPr>
        <p:spPr bwMode="auto">
          <a:xfrm>
            <a:off x="15951190" y="18470417"/>
            <a:ext cx="27618386" cy="61949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74320" tIns="45720" rIns="274320" bIns="45720" numCol="2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sz="3600" b="1" dirty="0" smtClean="0">
                <a:cs typeface="Arial" panose="020B0604020202020204" pitchFamily="34" charset="0"/>
              </a:rPr>
              <a:t>(</a:t>
            </a:r>
            <a:r>
              <a:rPr lang="en-US" sz="3600" b="1" dirty="0">
                <a:cs typeface="Arial" panose="020B0604020202020204" pitchFamily="34" charset="0"/>
              </a:rPr>
              <a:t>r/KitchenConfidential, Positive):</a:t>
            </a:r>
            <a:r>
              <a:rPr lang="en-US" sz="3600" b="1" i="1" dirty="0">
                <a:cs typeface="Arial" panose="020B0604020202020204" pitchFamily="34" charset="0"/>
              </a:rPr>
              <a:t> </a:t>
            </a:r>
          </a:p>
          <a:p>
            <a:pPr lvl="2"/>
            <a:r>
              <a:rPr lang="en-US" sz="3200" i="1" dirty="0">
                <a:cs typeface="Arial" panose="020B0604020202020204" pitchFamily="34" charset="0"/>
              </a:rPr>
              <a:t>"If you're a chef and you give a single f*** [censored for </a:t>
            </a:r>
            <a:r>
              <a:rPr lang="en-US" sz="3200" i="1" dirty="0" smtClean="0">
                <a:cs typeface="Arial" panose="020B0604020202020204" pitchFamily="34" charset="0"/>
              </a:rPr>
              <a:t>profanity] about </a:t>
            </a:r>
            <a:r>
              <a:rPr lang="en-US" sz="3200" i="1" dirty="0">
                <a:cs typeface="Arial" panose="020B0604020202020204" pitchFamily="34" charset="0"/>
              </a:rPr>
              <a:t>your craft, get the goddamn vaccine. Your food will be absolute s*** [censored for profanity] when you catch covid and can't smell or taste anything</a:t>
            </a:r>
            <a:r>
              <a:rPr lang="en-US" sz="3200" i="1" dirty="0" smtClean="0">
                <a:cs typeface="Arial" panose="020B0604020202020204" pitchFamily="34" charset="0"/>
              </a:rPr>
              <a:t>...“</a:t>
            </a:r>
            <a:endParaRPr lang="en-US" sz="3600" dirty="0" smtClean="0">
              <a:cs typeface="Arial" panose="020B0604020202020204" pitchFamily="34" charset="0"/>
            </a:endParaRPr>
          </a:p>
          <a:p>
            <a:pPr lvl="2"/>
            <a:endParaRPr lang="en-US" sz="3600" dirty="0">
              <a:cs typeface="Arial" panose="020B0604020202020204" pitchFamily="34" charset="0"/>
            </a:endParaRPr>
          </a:p>
          <a:p>
            <a:r>
              <a:rPr lang="en-US" sz="3600" b="1" dirty="0" smtClean="0">
                <a:cs typeface="Arial" panose="020B0604020202020204" pitchFamily="34" charset="0"/>
              </a:rPr>
              <a:t>(</a:t>
            </a:r>
            <a:r>
              <a:rPr lang="en-US" sz="3600" b="1" dirty="0">
                <a:cs typeface="Arial" panose="020B0604020202020204" pitchFamily="34" charset="0"/>
              </a:rPr>
              <a:t>r/Construction, Positive): </a:t>
            </a:r>
          </a:p>
          <a:p>
            <a:pPr lvl="2"/>
            <a:r>
              <a:rPr lang="en-US" sz="3200" i="1" dirty="0">
                <a:cs typeface="Arial" panose="020B0604020202020204" pitchFamily="34" charset="0"/>
              </a:rPr>
              <a:t>"It’s pretty hilarious a bunch of Construcrion guys are worried about the safety of the vaccine but meanwhile will walk steel, weld without ventilation, bitch about the silica rules and not wear their seatbelt</a:t>
            </a:r>
            <a:r>
              <a:rPr lang="en-US" sz="3200" i="1" dirty="0" smtClean="0">
                <a:cs typeface="Arial" panose="020B0604020202020204" pitchFamily="34" charset="0"/>
              </a:rPr>
              <a:t>...“</a:t>
            </a:r>
          </a:p>
          <a:p>
            <a:pPr lvl="2"/>
            <a:endParaRPr lang="en-US" sz="3200" i="1" dirty="0" smtClean="0">
              <a:cs typeface="Arial" panose="020B0604020202020204" pitchFamily="34" charset="0"/>
            </a:endParaRPr>
          </a:p>
          <a:p>
            <a:pPr lvl="2"/>
            <a:endParaRPr lang="en-US" sz="3200" i="1" dirty="0">
              <a:cs typeface="Arial" panose="020B0604020202020204" pitchFamily="34" charset="0"/>
            </a:endParaRPr>
          </a:p>
          <a:p>
            <a:r>
              <a:rPr lang="en-US" sz="3600" b="1" dirty="0" smtClean="0">
                <a:cs typeface="Arial" panose="020B0604020202020204" pitchFamily="34" charset="0"/>
              </a:rPr>
              <a:t>(</a:t>
            </a:r>
            <a:r>
              <a:rPr lang="en-US" sz="3600" b="1" dirty="0">
                <a:cs typeface="Arial" panose="020B0604020202020204" pitchFamily="34" charset="0"/>
              </a:rPr>
              <a:t>r/Machinists, Negative):</a:t>
            </a:r>
          </a:p>
          <a:p>
            <a:pPr lvl="2"/>
            <a:r>
              <a:rPr lang="en-US" sz="3200" dirty="0">
                <a:cs typeface="Arial" panose="020B0604020202020204" pitchFamily="34" charset="0"/>
              </a:rPr>
              <a:t> </a:t>
            </a:r>
            <a:r>
              <a:rPr lang="en-US" sz="3200" i="1" dirty="0">
                <a:cs typeface="Arial" panose="020B0604020202020204" pitchFamily="34" charset="0"/>
              </a:rPr>
              <a:t>"developed very loud ringing after second Pfizer shot... Wouldn't have vaccinated if I knew it was going to do this. Its hell</a:t>
            </a:r>
            <a:r>
              <a:rPr lang="en-US" sz="3200" i="1" dirty="0" smtClean="0">
                <a:cs typeface="Arial" panose="020B0604020202020204" pitchFamily="34" charset="0"/>
              </a:rPr>
              <a:t>.“</a:t>
            </a:r>
            <a:endParaRPr lang="en-US" sz="3600" b="1" i="1" dirty="0" smtClean="0">
              <a:cs typeface="Arial" panose="020B0604020202020204" pitchFamily="34" charset="0"/>
            </a:endParaRPr>
          </a:p>
          <a:p>
            <a:pPr lvl="2"/>
            <a:endParaRPr lang="en-US" sz="3600" b="1" i="1" dirty="0">
              <a:cs typeface="Arial" panose="020B0604020202020204" pitchFamily="34" charset="0"/>
            </a:endParaRPr>
          </a:p>
          <a:p>
            <a:r>
              <a:rPr lang="en-US" sz="3600" b="1" dirty="0" smtClean="0">
                <a:cs typeface="Arial" panose="020B0604020202020204" pitchFamily="34" charset="0"/>
              </a:rPr>
              <a:t>(</a:t>
            </a:r>
            <a:r>
              <a:rPr lang="en-US" sz="3600" b="1" dirty="0">
                <a:cs typeface="Arial" panose="020B0604020202020204" pitchFamily="34" charset="0"/>
              </a:rPr>
              <a:t>r/law, negative): </a:t>
            </a:r>
          </a:p>
          <a:p>
            <a:pPr lvl="2"/>
            <a:r>
              <a:rPr lang="en-US" sz="3200" i="1" dirty="0">
                <a:cs typeface="Arial" panose="020B0604020202020204" pitchFamily="34" charset="0"/>
              </a:rPr>
              <a:t>"This will certainly end up in court. Will this Scotus hear it? Will it overturn Jacobson v. Mass. against vaccine mandates or will it overturn Wickard</a:t>
            </a:r>
          </a:p>
          <a:p>
            <a:pPr lvl="2"/>
            <a:r>
              <a:rPr lang="en-US" sz="3200" i="1" dirty="0">
                <a:cs typeface="Arial" panose="020B0604020202020204" pitchFamily="34" charset="0"/>
              </a:rPr>
              <a:t>v. Filburn saying OSHA is outside the commerce clause?"</a:t>
            </a:r>
          </a:p>
        </p:txBody>
      </p:sp>
      <p:sp>
        <p:nvSpPr>
          <p:cNvPr id="79" name="Rectangle 2"/>
          <p:cNvSpPr>
            <a:spLocks noChangeArrowheads="1"/>
          </p:cNvSpPr>
          <p:nvPr/>
        </p:nvSpPr>
        <p:spPr bwMode="auto">
          <a:xfrm>
            <a:off x="15885220" y="26029901"/>
            <a:ext cx="27684356" cy="64312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274320" tIns="45720" rIns="274320" bIns="45720" numCol="2" spcCol="365760" anchor="t" anchorCtr="0" compatLnSpc="1">
            <a:prstTxWarp prst="textNoShape">
              <a:avLst/>
            </a:prstTxWarp>
            <a:noAutofit/>
          </a:bodyPr>
          <a:lstStyle/>
          <a:p>
            <a:pPr marL="571500" lvl="1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Selected white collar communities on Reddit were more negative towards COVID-19 vaccination in 2021.</a:t>
            </a:r>
          </a:p>
          <a:p>
            <a:pPr marL="571500" lvl="1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Within group findings were more nuanced.  Each occupational community expressed unique and specific viewpoints often driven by distinct workplace realities.</a:t>
            </a:r>
          </a:p>
          <a:p>
            <a:pPr marL="571500" lvl="1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4000" b="1" dirty="0" smtClean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4000" b="1" dirty="0" smtClean="0">
              <a:cs typeface="Arial" panose="020B0604020202020204" pitchFamily="34" charset="0"/>
            </a:endParaRPr>
          </a:p>
          <a:p>
            <a:pPr marL="0" lvl="1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4000" b="1" dirty="0" smtClean="0">
              <a:cs typeface="Arial" panose="020B0604020202020204" pitchFamily="34" charset="0"/>
            </a:endParaRPr>
          </a:p>
          <a:p>
            <a:pPr marL="0" lvl="1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4000" b="1" dirty="0">
              <a:cs typeface="Arial" panose="020B0604020202020204" pitchFamily="34" charset="0"/>
            </a:endParaRPr>
          </a:p>
          <a:p>
            <a:pPr marL="0" lvl="1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4000" b="1" dirty="0">
              <a:cs typeface="Arial" panose="020B0604020202020204" pitchFamily="34" charset="0"/>
            </a:endParaRPr>
          </a:p>
          <a:p>
            <a:pPr marL="571500" lvl="1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4000" b="1" dirty="0" smtClean="0">
                <a:cs typeface="Arial" panose="020B0604020202020204" pitchFamily="34" charset="0"/>
              </a:rPr>
              <a:t>Social </a:t>
            </a:r>
            <a:r>
              <a:rPr lang="en-US" sz="4000" b="1" dirty="0">
                <a:cs typeface="Arial" panose="020B0604020202020204" pitchFamily="34" charset="0"/>
              </a:rPr>
              <a:t>media is a valuable tool</a:t>
            </a: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cs typeface="Arial" panose="020B0604020202020204" pitchFamily="34" charset="0"/>
              </a:rPr>
              <a:t>Platforms like </a:t>
            </a:r>
            <a:r>
              <a:rPr lang="en-US" sz="3600" dirty="0" smtClean="0">
                <a:cs typeface="Arial" panose="020B0604020202020204" pitchFamily="34" charset="0"/>
              </a:rPr>
              <a:t>Reddit </a:t>
            </a:r>
            <a:r>
              <a:rPr lang="en-US" sz="3600" dirty="0">
                <a:cs typeface="Arial" panose="020B0604020202020204" pitchFamily="34" charset="0"/>
              </a:rPr>
              <a:t>offer a real-time window into worker health </a:t>
            </a:r>
            <a:r>
              <a:rPr lang="en-US" sz="3600" dirty="0" smtClean="0">
                <a:cs typeface="Arial" panose="020B0604020202020204" pitchFamily="34" charset="0"/>
              </a:rPr>
              <a:t>concerns and can be considered as a viable public health surveillance tool</a:t>
            </a:r>
          </a:p>
          <a:p>
            <a:pPr marL="571500" lvl="1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4000" b="1" dirty="0" smtClean="0">
                <a:cs typeface="Arial" panose="020B0604020202020204" pitchFamily="34" charset="0"/>
              </a:rPr>
              <a:t>Limitations</a:t>
            </a:r>
            <a:endParaRPr lang="en-US" sz="3600" b="1" dirty="0">
              <a:cs typeface="Arial" panose="020B0604020202020204" pitchFamily="34" charset="0"/>
            </a:endParaRP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Reddit users ≠ entire </a:t>
            </a:r>
            <a:r>
              <a:rPr lang="en-US" sz="3600" dirty="0" smtClean="0"/>
              <a:t>occupations</a:t>
            </a: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dirty="0" smtClean="0"/>
              <a:t>Chosen keywords may bias sampling; </a:t>
            </a: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S</a:t>
            </a:r>
            <a:r>
              <a:rPr lang="en-US" sz="3600" dirty="0" smtClean="0"/>
              <a:t>entiment </a:t>
            </a:r>
            <a:r>
              <a:rPr lang="en-US" sz="3600" dirty="0"/>
              <a:t>models can </a:t>
            </a:r>
            <a:r>
              <a:rPr lang="en-US" sz="3600" dirty="0" smtClean="0"/>
              <a:t>misclassify</a:t>
            </a:r>
          </a:p>
          <a:p>
            <a:pPr marL="1028700" lvl="2" indent="-571500" algn="just" defTabSz="1600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3600" dirty="0"/>
              <a:t>Cross-section: 2021 only; platform/sampling limit generalizability.</a:t>
            </a:r>
            <a:endParaRPr lang="en-US" sz="3600" dirty="0">
              <a:cs typeface="Arial" panose="020B0604020202020204" pitchFamily="34" charset="0"/>
            </a:endParaRPr>
          </a:p>
        </p:txBody>
      </p:sp>
      <p:sp>
        <p:nvSpPr>
          <p:cNvPr id="80" name="Google Shape;108;p12"/>
          <p:cNvSpPr txBox="1"/>
          <p:nvPr/>
        </p:nvSpPr>
        <p:spPr>
          <a:xfrm>
            <a:off x="15951191" y="24339785"/>
            <a:ext cx="27629064" cy="14122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6000"/>
            </a:pPr>
            <a:r>
              <a:rPr lang="en-US" sz="6000" b="1" dirty="0" smtClean="0">
                <a:solidFill>
                  <a:schemeClr val="lt1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Conclusion</a:t>
            </a:r>
            <a:endParaRPr lang="en-US" sz="6000" dirty="0">
              <a:solidFill>
                <a:srgbClr val="000000"/>
              </a:solidFill>
              <a:ea typeface="Arial"/>
              <a:cs typeface="Arial" panose="020B0604020202020204" pitchFamily="34" charset="0"/>
              <a:sym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284" y="27967653"/>
            <a:ext cx="5179677" cy="2913568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348" y="28181353"/>
            <a:ext cx="2471085" cy="247108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433" y="28177361"/>
            <a:ext cx="2648892" cy="2648892"/>
          </a:xfrm>
          <a:prstGeom prst="rect">
            <a:avLst/>
          </a:prstGeom>
          <a:noFill/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9600" y="3605372"/>
            <a:ext cx="1682628" cy="168262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8993620" y="4345346"/>
            <a:ext cx="3535804" cy="2460926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US" sz="4000" b="1" dirty="0" smtClean="0">
                <a:ea typeface="Times New Roman"/>
                <a:cs typeface="Arial" panose="020B0604020202020204" pitchFamily="34" charset="0"/>
                <a:sym typeface="Times New Roman"/>
              </a:rPr>
              <a:t>Contact me!</a:t>
            </a:r>
            <a:endParaRPr lang="en-US"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1838" y="2444759"/>
            <a:ext cx="3712282" cy="3712282"/>
          </a:xfrm>
          <a:prstGeom prst="rect">
            <a:avLst/>
          </a:prstGeom>
        </p:spPr>
      </p:pic>
      <p:sp>
        <p:nvSpPr>
          <p:cNvPr id="34" name="Google Shape;108;p12">
            <a:extLst>
              <a:ext uri="{FF2B5EF4-FFF2-40B4-BE49-F238E27FC236}">
                <a16:creationId xmlns:a16="http://schemas.microsoft.com/office/drawing/2014/main" id="{F745C2A6-D6C6-C7E2-D0D5-80FD4E7AA8C1}"/>
              </a:ext>
            </a:extLst>
          </p:cNvPr>
          <p:cNvSpPr txBox="1"/>
          <p:nvPr/>
        </p:nvSpPr>
        <p:spPr>
          <a:xfrm>
            <a:off x="38325" y="11573170"/>
            <a:ext cx="15728040" cy="2214365"/>
          </a:xfrm>
          <a:prstGeom prst="rect">
            <a:avLst/>
          </a:prstGeom>
          <a:noFill/>
          <a:ln w="76200" cmpd="thickThin"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1" defTabSz="1600200">
              <a:spcBef>
                <a:spcPct val="0"/>
              </a:spcBef>
              <a:spcAft>
                <a:spcPts val="1200"/>
              </a:spcAft>
            </a:pPr>
            <a:endParaRPr lang="en-US" sz="36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pic>
        <p:nvPicPr>
          <p:cNvPr id="35" name="Picture 34" descr="Logo of Rutgers School of Public Health.">
            <a:extLst>
              <a:ext uri="{FF2B5EF4-FFF2-40B4-BE49-F238E27FC236}">
                <a16:creationId xmlns:a16="http://schemas.microsoft.com/office/drawing/2014/main" id="{ED8E391E-9D71-4C90-379C-E704ED023498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1" t="28470" r="5979" b="31672"/>
          <a:stretch/>
        </p:blipFill>
        <p:spPr bwMode="auto">
          <a:xfrm>
            <a:off x="36073471" y="209880"/>
            <a:ext cx="7302076" cy="188186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20540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61C846B26FE446B35197328CEF547C" ma:contentTypeVersion="18" ma:contentTypeDescription="Create a new document." ma:contentTypeScope="" ma:versionID="a0ff6bf5b9d7cf6aaf2bc55d19e0824a">
  <xsd:schema xmlns:xsd="http://www.w3.org/2001/XMLSchema" xmlns:xs="http://www.w3.org/2001/XMLSchema" xmlns:p="http://schemas.microsoft.com/office/2006/metadata/properties" xmlns:ns3="145709a2-0432-4859-9e39-4db2f9bb77fc" xmlns:ns4="aeba1dcd-1d5d-46d5-a402-98b310e112a2" targetNamespace="http://schemas.microsoft.com/office/2006/metadata/properties" ma:root="true" ma:fieldsID="353edd2f2bc984c63d4a3e680e34ef40" ns3:_="" ns4:_="">
    <xsd:import namespace="145709a2-0432-4859-9e39-4db2f9bb77fc"/>
    <xsd:import namespace="aeba1dcd-1d5d-46d5-a402-98b310e112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5709a2-0432-4859-9e39-4db2f9bb77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ba1dcd-1d5d-46d5-a402-98b310e112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45709a2-0432-4859-9e39-4db2f9bb77fc" xsi:nil="true"/>
  </documentManagement>
</p:properties>
</file>

<file path=customXml/itemProps1.xml><?xml version="1.0" encoding="utf-8"?>
<ds:datastoreItem xmlns:ds="http://schemas.openxmlformats.org/officeDocument/2006/customXml" ds:itemID="{6C0D9CC8-88E2-4B9E-B740-2E4E33BEC1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9FAF6C-DEFB-4AEA-A726-61F2BB3ED3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5709a2-0432-4859-9e39-4db2f9bb77fc"/>
    <ds:schemaRef ds:uri="aeba1dcd-1d5d-46d5-a402-98b310e112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BD225D-718F-4B83-871B-16FA049C418C}">
  <ds:schemaRefs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aeba1dcd-1d5d-46d5-a402-98b310e112a2"/>
    <ds:schemaRef ds:uri="145709a2-0432-4859-9e39-4db2f9bb77fc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24095</TotalTime>
  <Words>591</Words>
  <Application>Microsoft Office PowerPoint</Application>
  <PresentationFormat>Custom</PresentationFormat>
  <Paragraphs>63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 Light</vt:lpstr>
      <vt:lpstr>Times New Roman</vt:lpstr>
      <vt:lpstr>Calibri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Phoebe Stapleton</dc:creator>
  <cp:lastModifiedBy>Usmaan Shah</cp:lastModifiedBy>
  <cp:revision>107</cp:revision>
  <cp:lastPrinted>2024-09-30T14:55:08Z</cp:lastPrinted>
  <dcterms:modified xsi:type="dcterms:W3CDTF">2025-10-14T20:08:19Z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0x0101009361C846B26FE446B35197328CEF547C</vt:lpwstr>
  </property>
</Properties>
</file>